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/>
              <a:t>Top 5 Months by Revenue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(£)</c:v>
                </c:pt>
              </c:strCache>
            </c:strRef>
          </c:tx>
          <c:invertIfNegative val="1"/>
          <c:cat>
            <c:strRef>
              <c:f>Sheet1!$A$2:$A$6</c:f>
              <c:strCache>
                <c:ptCount val="5"/>
                <c:pt idx="0">
                  <c:v>Nov-11</c:v>
                </c:pt>
                <c:pt idx="1">
                  <c:v>Oct-11</c:v>
                </c:pt>
                <c:pt idx="2">
                  <c:v>Sep-11</c:v>
                </c:pt>
                <c:pt idx="3">
                  <c:v>Dec-10</c:v>
                </c:pt>
                <c:pt idx="4">
                  <c:v>May-11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1461756.25</c:v>
                </c:pt>
                <c:pt idx="1">
                  <c:v>1070704.67</c:v>
                </c:pt>
                <c:pt idx="2">
                  <c:v>1019687.622</c:v>
                </c:pt>
                <c:pt idx="3">
                  <c:v>748957.02</c:v>
                </c:pt>
                <c:pt idx="4">
                  <c:v>723333.51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5FA-4A01-85A6-E77B402AA20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\£0.0,,&quot;M&quot;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11-Sep-26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11-Sep-26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11-Sep-26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7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05156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3400" b="1">
                <a:solidFill>
                  <a:srgbClr val="FFFFFF"/>
                </a:solidFill>
              </a:defRPr>
            </a:pPr>
            <a:r>
              <a:t>ONLINE RETAIL BUSINESS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78308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700" b="0">
                <a:solidFill>
                  <a:srgbClr val="D2E1EB"/>
                </a:solidFill>
              </a:defRPr>
            </a:pPr>
            <a:r>
              <a:t>Sales, Customer &amp; Product Performance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880360"/>
            <a:ext cx="9875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800" b="0">
                <a:solidFill>
                  <a:srgbClr val="FFFFFF"/>
                </a:solidFill>
              </a:defRPr>
            </a:pPr>
            <a:r>
              <a:t>Business Objective</a:t>
            </a:r>
          </a:p>
          <a:p>
            <a:pPr algn="l">
              <a:spcAft>
                <a:spcPts val="700"/>
              </a:spcAft>
              <a:defRPr sz="1800" b="0">
                <a:solidFill>
                  <a:srgbClr val="FFFFFF"/>
                </a:solidFill>
              </a:defRPr>
            </a:pPr>
            <a:r>
              <a:t>Understand the key drivers of revenue and identify opportunities to improve sales, customer value and operational performance.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89788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100" b="0">
                <a:solidFill>
                  <a:srgbClr val="BECDD7"/>
                </a:solidFill>
              </a:defRPr>
            </a:pPr>
            <a:r>
              <a:t>UCI Online Retail Dataset  |  541,909 transactions  |  2010–2011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4E"/>
                </a:solidFill>
              </a:defRPr>
            </a:pPr>
            <a:r>
              <a:t>Data &amp;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6012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078"/>
                </a:solidFill>
              </a:defRPr>
            </a:pPr>
            <a:r>
              <a:t>A transaction-level view of sales performance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25603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8952" y="1563624"/>
            <a:ext cx="2231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000" b="1">
                <a:solidFill>
                  <a:srgbClr val="697078"/>
                </a:solidFill>
              </a:defRPr>
            </a:pPr>
            <a:r>
              <a:t>TRANSACTIONS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892808"/>
            <a:ext cx="223113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300" b="1">
                <a:solidFill>
                  <a:srgbClr val="1F374E"/>
                </a:solidFill>
              </a:defRPr>
            </a:pPr>
            <a:r>
              <a:t>541,909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359152"/>
            <a:ext cx="22311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900" b="0">
                <a:solidFill>
                  <a:srgbClr val="697078"/>
                </a:solidFill>
              </a:defRPr>
            </a:pPr>
            <a:r>
              <a:t>Original records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417320"/>
            <a:ext cx="25603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02152" y="1563624"/>
            <a:ext cx="2231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000" b="1">
                <a:solidFill>
                  <a:srgbClr val="697078"/>
                </a:solidFill>
              </a:defRPr>
            </a:pPr>
            <a:r>
              <a:t>COLUMNS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02152" y="1892808"/>
            <a:ext cx="223113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300" b="1">
                <a:solidFill>
                  <a:srgbClr val="1F374E"/>
                </a:solidFill>
              </a:defRPr>
            </a:pPr>
            <a:r>
              <a:t>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2152" y="2359152"/>
            <a:ext cx="22311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900" b="0">
                <a:solidFill>
                  <a:srgbClr val="697078"/>
                </a:solidFill>
              </a:defRPr>
            </a:pPr>
            <a:r>
              <a:t>Original fields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1417320"/>
            <a:ext cx="25603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45352" y="1563624"/>
            <a:ext cx="2231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000" b="1">
                <a:solidFill>
                  <a:srgbClr val="697078"/>
                </a:solidFill>
              </a:defRPr>
            </a:pPr>
            <a:r>
              <a:t>CUSTOMERS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45352" y="1892808"/>
            <a:ext cx="223113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300" b="1">
                <a:solidFill>
                  <a:srgbClr val="1F374E"/>
                </a:solidFill>
              </a:defRPr>
            </a:pPr>
            <a:r>
              <a:t>4,372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5352" y="2359152"/>
            <a:ext cx="22311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900" b="0">
                <a:solidFill>
                  <a:srgbClr val="697078"/>
                </a:solidFill>
              </a:defRPr>
            </a:pPr>
            <a:r>
              <a:t>Unique Customer IDs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23960" y="1417320"/>
            <a:ext cx="25603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88552" y="1563624"/>
            <a:ext cx="2231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000" b="1">
                <a:solidFill>
                  <a:srgbClr val="697078"/>
                </a:solidFill>
              </a:defRPr>
            </a:pPr>
            <a:r>
              <a:t>COUNTRIES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88552" y="1892808"/>
            <a:ext cx="223113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300" b="1">
                <a:solidFill>
                  <a:srgbClr val="1F374E"/>
                </a:solidFill>
              </a:defRPr>
            </a:pPr>
            <a:r>
              <a:t>38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8552" y="2359152"/>
            <a:ext cx="22311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900" b="0">
                <a:solidFill>
                  <a:srgbClr val="697078"/>
                </a:solidFill>
              </a:defRPr>
            </a:pPr>
            <a:r>
              <a:t>Markets represented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3154680"/>
            <a:ext cx="5212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600" b="0">
                <a:solidFill>
                  <a:srgbClr val="282D32"/>
                </a:solidFill>
              </a:defRPr>
            </a:pPr>
            <a:r>
              <a:t>Data used</a:t>
            </a:r>
          </a:p>
          <a:p>
            <a:pPr algn="l">
              <a:spcAft>
                <a:spcPts val="700"/>
              </a:spcAft>
              <a:defRPr sz="1600" b="0">
                <a:solidFill>
                  <a:srgbClr val="282D32"/>
                </a:solidFill>
              </a:defRPr>
            </a:pPr>
            <a:r>
              <a:t>• Invoice and product information</a:t>
            </a:r>
          </a:p>
          <a:p>
            <a:pPr algn="l">
              <a:spcAft>
                <a:spcPts val="700"/>
              </a:spcAft>
              <a:defRPr sz="1600" b="0">
                <a:solidFill>
                  <a:srgbClr val="282D32"/>
                </a:solidFill>
              </a:defRPr>
            </a:pPr>
            <a:r>
              <a:t>• Quantity, price and transaction date</a:t>
            </a:r>
          </a:p>
          <a:p>
            <a:pPr algn="l">
              <a:spcAft>
                <a:spcPts val="700"/>
              </a:spcAft>
              <a:defRPr sz="1600" b="0">
                <a:solidFill>
                  <a:srgbClr val="282D32"/>
                </a:solidFill>
              </a:defRPr>
            </a:pPr>
            <a:r>
              <a:t>• Customer and country information</a:t>
            </a:r>
          </a:p>
          <a:p>
            <a:pPr algn="l">
              <a:spcAft>
                <a:spcPts val="700"/>
              </a:spcAft>
              <a:defRPr sz="1600" b="0">
                <a:solidFill>
                  <a:srgbClr val="282D32"/>
                </a:solidFill>
              </a:defRPr>
            </a:pPr>
            <a:r>
              <a:t>• Cancellation/return indicators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154680"/>
            <a:ext cx="5212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500" b="0">
                <a:solidFill>
                  <a:srgbClr val="282D32"/>
                </a:solidFill>
              </a:defRPr>
            </a:pPr>
            <a:r>
              <a:t>Analysis approach</a:t>
            </a:r>
          </a:p>
          <a:p>
            <a:pPr algn="l">
              <a:spcAft>
                <a:spcPts val="700"/>
              </a:spcAft>
              <a:defRPr sz="1500" b="0">
                <a:solidFill>
                  <a:srgbClr val="282D32"/>
                </a:solidFill>
              </a:defRPr>
            </a:pPr>
            <a:r>
              <a:t>• Checked missing values and data types</a:t>
            </a:r>
          </a:p>
          <a:p>
            <a:pPr algn="l">
              <a:spcAft>
                <a:spcPts val="700"/>
              </a:spcAft>
              <a:defRPr sz="1500" b="0">
                <a:solidFill>
                  <a:srgbClr val="282D32"/>
                </a:solidFill>
              </a:defRPr>
            </a:pPr>
            <a:r>
              <a:t>• Recovered 1,342 missing descriptions</a:t>
            </a:r>
          </a:p>
          <a:p>
            <a:pPr algn="l">
              <a:spcAft>
                <a:spcPts val="700"/>
              </a:spcAft>
              <a:defRPr sz="1500" b="0">
                <a:solidFill>
                  <a:srgbClr val="282D32"/>
                </a:solidFill>
              </a:defRPr>
            </a:pPr>
            <a:r>
              <a:t>• Calculated Revenue = Quantity × UnitPrice</a:t>
            </a:r>
          </a:p>
          <a:p>
            <a:pPr algn="l">
              <a:spcAft>
                <a:spcPts val="700"/>
              </a:spcAft>
              <a:defRPr sz="1500" b="0">
                <a:solidFill>
                  <a:srgbClr val="282D32"/>
                </a:solidFill>
              </a:defRPr>
            </a:pPr>
            <a:r>
              <a:t>• Identified cancellations/returns</a:t>
            </a:r>
          </a:p>
          <a:p>
            <a:pPr algn="l">
              <a:spcAft>
                <a:spcPts val="700"/>
              </a:spcAft>
              <a:defRPr sz="1500" b="0">
                <a:solidFill>
                  <a:srgbClr val="282D32"/>
                </a:solidFill>
              </a:defRPr>
            </a:pPr>
            <a:r>
              <a:t>• Reviewed unusual UnitPrice values</a:t>
            </a:r>
          </a:p>
          <a:p>
            <a:pPr algn="l">
              <a:spcAft>
                <a:spcPts val="700"/>
              </a:spcAft>
              <a:defRPr sz="1500" b="0">
                <a:solidFill>
                  <a:srgbClr val="282D32"/>
                </a:solidFill>
              </a:defRPr>
            </a:pPr>
            <a:r>
              <a:t>• Compared performance by month, product, customer and country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4E"/>
                </a:solidFill>
              </a:defRPr>
            </a:pPr>
            <a:r>
              <a:t>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6012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078"/>
                </a:solidFill>
              </a:defRPr>
            </a:pPr>
            <a:r>
              <a:t>What management should know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325880"/>
            <a:ext cx="384048" cy="384048"/>
          </a:xfrm>
          <a:prstGeom prst="ellipse">
            <a:avLst/>
          </a:prstGeom>
          <a:solidFill>
            <a:srgbClr val="2D6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1389888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30759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400" b="1">
                <a:solidFill>
                  <a:srgbClr val="1F374E"/>
                </a:solidFill>
              </a:defRPr>
            </a:pPr>
            <a:r>
              <a:t>Revenue peaks in November 2011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645919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100" b="0">
                <a:solidFill>
                  <a:srgbClr val="697078"/>
                </a:solidFill>
              </a:defRPr>
            </a:pPr>
            <a:r>
              <a:t>£1.46M monthly revenue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258568"/>
            <a:ext cx="384048" cy="384048"/>
          </a:xfrm>
          <a:prstGeom prst="ellipse">
            <a:avLst/>
          </a:prstGeom>
          <a:solidFill>
            <a:srgbClr val="2D6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2322575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240279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400" b="1">
                <a:solidFill>
                  <a:srgbClr val="1F374E"/>
                </a:solidFill>
              </a:defRPr>
            </a:pPr>
            <a:r>
              <a:t>Top product-level revenue includes postage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57860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100" b="0">
                <a:solidFill>
                  <a:srgbClr val="697078"/>
                </a:solidFill>
              </a:defRPr>
            </a:pPr>
            <a:r>
              <a:t>DOTCOM POSTAGE: £206.2K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191256"/>
            <a:ext cx="384048" cy="384048"/>
          </a:xfrm>
          <a:prstGeom prst="ellipse">
            <a:avLst/>
          </a:prstGeom>
          <a:solidFill>
            <a:srgbClr val="2D6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9808" y="3255263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17296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400" b="1">
                <a:solidFill>
                  <a:srgbClr val="1F374E"/>
                </a:solidFill>
              </a:defRPr>
            </a:pPr>
            <a:r>
              <a:t>Revenue is concentrated among high-value customers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511296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100" b="0">
                <a:solidFill>
                  <a:srgbClr val="697078"/>
                </a:solidFill>
              </a:defRPr>
            </a:pPr>
            <a:r>
              <a:t>Top customer: £279.5K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123944"/>
            <a:ext cx="384048" cy="384048"/>
          </a:xfrm>
          <a:prstGeom prst="ellipse">
            <a:avLst/>
          </a:prstGeom>
          <a:solidFill>
            <a:srgbClr val="2D6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9808" y="4187952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105656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400" b="1">
                <a:solidFill>
                  <a:srgbClr val="1F374E"/>
                </a:solidFill>
              </a:defRPr>
            </a:pPr>
            <a:r>
              <a:t>The UK is the dominant market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4443983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100" b="0">
                <a:solidFill>
                  <a:srgbClr val="697078"/>
                </a:solidFill>
              </a:defRPr>
            </a:pPr>
            <a:r>
              <a:t>£8.19M revenue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5056631"/>
            <a:ext cx="384048" cy="384048"/>
          </a:xfrm>
          <a:prstGeom prst="ellipse">
            <a:avLst/>
          </a:prstGeom>
          <a:solidFill>
            <a:srgbClr val="2D6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9808" y="5120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5038344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400" b="1">
                <a:solidFill>
                  <a:srgbClr val="1F374E"/>
                </a:solidFill>
              </a:defRPr>
            </a:pPr>
            <a:r>
              <a:t>Cancellations reduce reported revenue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5376671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100" b="0">
                <a:solidFill>
                  <a:srgbClr val="697078"/>
                </a:solidFill>
              </a:defRPr>
            </a:pPr>
            <a:r>
              <a:t>£896.8K negative revenue</a:t>
            </a:r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6720840" y="1371600"/>
          <a:ext cx="480060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4E"/>
                </a:solidFill>
              </a:defRPr>
            </a:pPr>
            <a:r>
              <a:t>Deep-Dive 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6012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078"/>
                </a:solidFill>
              </a:defRPr>
            </a:pPr>
            <a:r>
              <a:t>Extreme transaction prices were not always expensive retail products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200" b="1">
                <a:solidFill>
                  <a:srgbClr val="697078"/>
                </a:solidFill>
              </a:defRPr>
            </a:pPr>
            <a:r>
              <a:t>WHAT WE EXPECTED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1F374E"/>
                </a:solidFill>
              </a:defRPr>
            </a:pPr>
            <a:r>
              <a:t>The highest UnitPrice values would mainly represent expensive products.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200" b="1">
                <a:solidFill>
                  <a:srgbClr val="697078"/>
                </a:solidFill>
              </a:defRPr>
            </a:pPr>
            <a:r>
              <a:t>WHAT WE FOUND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5468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1F374E"/>
                </a:solidFill>
              </a:defRPr>
            </a:pPr>
            <a:r>
              <a:t>Several extreme values were linked to non-standard transactions such as AMAZON FEE, POSTAGE and Adjust bad debt.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5720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200" b="1">
                <a:solidFill>
                  <a:srgbClr val="697078"/>
                </a:solidFill>
              </a:defRPr>
            </a:pPr>
            <a:r>
              <a:t>WHY IT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8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600" b="0">
                <a:solidFill>
                  <a:srgbClr val="282D32"/>
                </a:solidFill>
              </a:defRPr>
            </a:pPr>
            <a:r>
              <a:t>Treating these as normal product prices could distort pricing and product-performance analysis.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508760"/>
            <a:ext cx="4480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11112" y="1655063"/>
            <a:ext cx="41513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000" b="1">
                <a:solidFill>
                  <a:srgbClr val="697078"/>
                </a:solidFill>
              </a:defRPr>
            </a:pPr>
            <a:r>
              <a:t>POTENTIAL UNITPRICE OUTLIERS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11112" y="1984248"/>
            <a:ext cx="415137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300" b="1">
                <a:solidFill>
                  <a:srgbClr val="1F374E"/>
                </a:solidFill>
              </a:defRPr>
            </a:pPr>
            <a:r>
              <a:t>39,627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1112" y="2450591"/>
            <a:ext cx="41513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900" b="0">
                <a:solidFill>
                  <a:srgbClr val="697078"/>
                </a:solidFill>
              </a:defRPr>
            </a:pPr>
            <a:r>
              <a:t>Flagged using the IQR method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46520" y="3246120"/>
            <a:ext cx="4480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11112" y="3392424"/>
            <a:ext cx="41513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000" b="1">
                <a:solidFill>
                  <a:srgbClr val="697078"/>
                </a:solidFill>
              </a:defRPr>
            </a:pPr>
            <a:r>
              <a:t>IQR UPPER BOUND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11112" y="3721608"/>
            <a:ext cx="415137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300" b="1">
                <a:solidFill>
                  <a:srgbClr val="1F374E"/>
                </a:solidFill>
              </a:defRPr>
            </a:pPr>
            <a:r>
              <a:t>£8.45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11112" y="4187952"/>
            <a:ext cx="41513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900" b="0">
                <a:solidFill>
                  <a:srgbClr val="697078"/>
                </a:solidFill>
              </a:defRPr>
            </a:pPr>
            <a:r>
              <a:t>Statistical review threshold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46520" y="4983480"/>
            <a:ext cx="4626864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11112" y="5129784"/>
            <a:ext cx="41513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000" b="1">
                <a:solidFill>
                  <a:srgbClr val="697078"/>
                </a:solidFill>
              </a:defRPr>
            </a:pPr>
            <a:r>
              <a:t>MANAGEMENT TAKEAWAY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11112" y="5303633"/>
            <a:ext cx="41513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300" b="1">
                <a:solidFill>
                  <a:srgbClr val="1F374E"/>
                </a:solidFill>
              </a:defRPr>
            </a:pPr>
            <a:r>
              <a:rPr sz="1600" dirty="0"/>
              <a:t>Separate non-product transactions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11112" y="5628302"/>
            <a:ext cx="41513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900" b="0">
                <a:solidFill>
                  <a:srgbClr val="697078"/>
                </a:solidFill>
              </a:defRPr>
            </a:pPr>
            <a:r>
              <a:rPr dirty="0"/>
              <a:t>for product pricing 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4E"/>
                </a:solidFill>
              </a:defRPr>
            </a:pPr>
            <a:r>
              <a:t>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6012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078"/>
                </a:solidFill>
              </a:defRPr>
            </a:pPr>
            <a:r>
              <a:t>Prioritized actions for management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109728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200" b="1">
                <a:solidFill>
                  <a:srgbClr val="2D6F97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47218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500" b="1">
                <a:solidFill>
                  <a:srgbClr val="1F374E"/>
                </a:solidFill>
              </a:defRPr>
            </a:pPr>
            <a:r>
              <a:t>Protect top-product availability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92807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100" b="0">
                <a:solidFill>
                  <a:srgbClr val="282D32"/>
                </a:solidFill>
              </a:defRPr>
            </a:pPr>
            <a:r>
              <a:t>Maintain stock and promote products that consistently generate strong revenue.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86600" y="15087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900" b="1">
                <a:solidFill>
                  <a:srgbClr val="697078"/>
                </a:solidFill>
              </a:defRPr>
            </a:pPr>
            <a:r>
              <a:t>OWNER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180136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100" b="1">
                <a:solidFill>
                  <a:srgbClr val="1F374E"/>
                </a:solidFill>
              </a:defRPr>
            </a:pPr>
            <a:r>
              <a:t>Sales &amp; Inventory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15087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900" b="1">
                <a:solidFill>
                  <a:srgbClr val="697078"/>
                </a:solidFill>
              </a:defRPr>
            </a:pPr>
            <a:r>
              <a:t>SUCCESS MEASURE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1801368"/>
            <a:ext cx="2057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000" b="0">
                <a:solidFill>
                  <a:srgbClr val="282D32"/>
                </a:solidFill>
              </a:defRPr>
            </a:pPr>
            <a:r>
              <a:t>Revenue from top products; stock-out rate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926080"/>
            <a:ext cx="109728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3108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200" b="1">
                <a:solidFill>
                  <a:srgbClr val="2D6F97"/>
                </a:solidFill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07238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500" b="1">
                <a:solidFill>
                  <a:srgbClr val="1F374E"/>
                </a:solidFill>
              </a:defRPr>
            </a:pPr>
            <a:r>
              <a:t>Target high-value customers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493008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100" b="0">
                <a:solidFill>
                  <a:srgbClr val="282D32"/>
                </a:solidFill>
              </a:defRPr>
            </a:pPr>
            <a:r>
              <a:t>Use targeted offers and retention activity for customers contributing significant revenue.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3108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900" b="1">
                <a:solidFill>
                  <a:srgbClr val="697078"/>
                </a:solidFill>
              </a:defRPr>
            </a:pPr>
            <a:r>
              <a:t>OWNER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600" y="340156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100" b="1">
                <a:solidFill>
                  <a:srgbClr val="1F374E"/>
                </a:solidFill>
              </a:defRPr>
            </a:pPr>
            <a:r>
              <a:t>Marketing &amp; CRM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31089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900" b="1">
                <a:solidFill>
                  <a:srgbClr val="697078"/>
                </a:solidFill>
              </a:defRPr>
            </a:pPr>
            <a:r>
              <a:t>SUCCESS MEASURE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3401568"/>
            <a:ext cx="2057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000" b="0">
                <a:solidFill>
                  <a:srgbClr val="282D32"/>
                </a:solidFill>
              </a:defRPr>
            </a:pPr>
            <a:r>
              <a:t>Repeat purchase rate; revenue/customer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4526280"/>
            <a:ext cx="109728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47091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200" b="1">
                <a:solidFill>
                  <a:srgbClr val="2D6F97"/>
                </a:solidFill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67258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500" b="1">
                <a:solidFill>
                  <a:srgbClr val="1F374E"/>
                </a:solidFill>
              </a:defRPr>
            </a:pPr>
            <a:r>
              <a:t>Investigate cancellations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5093208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100" b="0">
                <a:solidFill>
                  <a:srgbClr val="282D32"/>
                </a:solidFill>
              </a:defRPr>
            </a:pPr>
            <a:r>
              <a:t>Identify products and periods with high cancellation activity and investigate causes.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47091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900" b="1">
                <a:solidFill>
                  <a:srgbClr val="697078"/>
                </a:solidFill>
              </a:defRPr>
            </a:pPr>
            <a:r>
              <a:t>OWNER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6600" y="500176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100" b="1">
                <a:solidFill>
                  <a:srgbClr val="1F374E"/>
                </a:solidFill>
              </a:defRPr>
            </a:pPr>
            <a:r>
              <a:t>Operations &amp; Customer Service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47091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900" b="1">
                <a:solidFill>
                  <a:srgbClr val="697078"/>
                </a:solidFill>
              </a:defRPr>
            </a:pPr>
            <a:r>
              <a:t>SUCCESS MEASURE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5001768"/>
            <a:ext cx="2057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000" b="0">
                <a:solidFill>
                  <a:srgbClr val="282D32"/>
                </a:solidFill>
              </a:defRPr>
            </a:pPr>
            <a:r>
              <a:t>Cancellation rate; cancellation-related revenue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4E"/>
                </a:solidFill>
              </a:defRPr>
            </a:pPr>
            <a:r>
              <a:t>Expected Business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6012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078"/>
                </a:solidFill>
              </a:defRPr>
            </a:pPr>
            <a:r>
              <a:t>Linking actions to measurable outcomes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27432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8950" y="1527048"/>
            <a:ext cx="24140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000" b="1">
                <a:solidFill>
                  <a:srgbClr val="697078"/>
                </a:solidFill>
              </a:defRPr>
            </a:pPr>
            <a:r>
              <a:rPr dirty="0"/>
              <a:t>Top-product focus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1728216"/>
            <a:ext cx="24140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300" b="1">
                <a:solidFill>
                  <a:srgbClr val="1F374E"/>
                </a:solidFill>
              </a:defRPr>
            </a:pPr>
            <a:r>
              <a:rPr sz="1600" dirty="0"/>
              <a:t>Higher sales and fewer stock-outs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560320"/>
            <a:ext cx="27432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1" y="2706624"/>
            <a:ext cx="24140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000" b="1">
                <a:solidFill>
                  <a:srgbClr val="697078"/>
                </a:solidFill>
              </a:defRPr>
            </a:pPr>
            <a:r>
              <a:t>Customer retention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2834640"/>
            <a:ext cx="24140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300" b="1">
                <a:solidFill>
                  <a:srgbClr val="1F374E"/>
                </a:solidFill>
              </a:defRPr>
            </a:pPr>
            <a:r>
              <a:rPr sz="1600" dirty="0"/>
              <a:t>Higher repeat purchases and customer value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703320"/>
            <a:ext cx="27432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4671" y="3849624"/>
            <a:ext cx="24140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000" b="1">
                <a:solidFill>
                  <a:srgbClr val="697078"/>
                </a:solidFill>
              </a:defRPr>
            </a:pPr>
            <a:r>
              <a:t>Cancellation management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" y="4178808"/>
            <a:ext cx="241401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300" b="1">
                <a:solidFill>
                  <a:srgbClr val="1F374E"/>
                </a:solidFill>
              </a:defRPr>
            </a:pPr>
            <a:r>
              <a:rPr sz="1600" dirty="0"/>
              <a:t>Lower revenue leakage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846320"/>
            <a:ext cx="27432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4671" y="4992624"/>
            <a:ext cx="24140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000" b="1">
                <a:solidFill>
                  <a:srgbClr val="697078"/>
                </a:solidFill>
              </a:defRPr>
            </a:pPr>
            <a:r>
              <a:t>Better performance monitoring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5321808"/>
            <a:ext cx="24140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300" b="1">
                <a:solidFill>
                  <a:srgbClr val="1F374E"/>
                </a:solidFill>
              </a:defRPr>
            </a:pPr>
            <a:r>
              <a:rPr sz="1600" dirty="0"/>
              <a:t>Faster identification of growth areas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1508760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100" b="1">
                <a:solidFill>
                  <a:srgbClr val="697078"/>
                </a:solidFill>
              </a:defRPr>
            </a:pPr>
            <a:r>
              <a:t>PRIORITY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1920240"/>
            <a:ext cx="7315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100" b="1">
                <a:solidFill>
                  <a:srgbClr val="1F374E"/>
                </a:solidFill>
              </a:defRPr>
            </a:pPr>
            <a:r>
              <a:t>1. High-performing product focus</a:t>
            </a:r>
          </a:p>
          <a:p>
            <a:pPr algn="l">
              <a:spcAft>
                <a:spcPts val="700"/>
              </a:spcAft>
              <a:defRPr sz="2100" b="1">
                <a:solidFill>
                  <a:srgbClr val="1F374E"/>
                </a:solidFill>
              </a:defRPr>
            </a:pPr>
            <a:r>
              <a:t>2. High-value customer retention</a:t>
            </a:r>
          </a:p>
          <a:p>
            <a:pPr algn="l">
              <a:spcAft>
                <a:spcPts val="700"/>
              </a:spcAft>
              <a:defRPr sz="2100" b="1">
                <a:solidFill>
                  <a:srgbClr val="1F374E"/>
                </a:solidFill>
              </a:defRPr>
            </a:pPr>
            <a:r>
              <a:t>3. Cancellation investigation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3794760"/>
            <a:ext cx="7132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100" b="1">
                <a:solidFill>
                  <a:srgbClr val="697078"/>
                </a:solidFill>
              </a:defRPr>
            </a:pPr>
            <a:r>
              <a:t>OVERALL BUSINESS GOAL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4251960"/>
            <a:ext cx="7223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000" b="1">
                <a:solidFill>
                  <a:srgbClr val="2D6F97"/>
                </a:solidFill>
              </a:defRPr>
            </a:pPr>
            <a:r>
              <a:t>Increase revenue quality and customer value while reducing avoidable revenue leakage.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4E"/>
                </a:solidFill>
              </a:defRPr>
            </a:pPr>
            <a:r>
              <a:t>Limitations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6012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078"/>
                </a:solidFill>
              </a:defRPr>
            </a:pPr>
            <a:r>
              <a:t>Important cautions before making broader business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300" b="1">
                <a:solidFill>
                  <a:srgbClr val="697078"/>
                </a:solidFill>
              </a:defRPr>
            </a:pPr>
            <a:r>
              <a:t>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5394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500" b="0">
                <a:solidFill>
                  <a:srgbClr val="282D32"/>
                </a:solidFill>
              </a:defRPr>
            </a:pPr>
            <a:r>
              <a:t>• 135,080 CustomerID values are missing (24.93%), limiting customer-level analysis.</a:t>
            </a:r>
          </a:p>
          <a:p>
            <a:pPr algn="l">
              <a:spcAft>
                <a:spcPts val="700"/>
              </a:spcAft>
              <a:defRPr sz="1500" b="0">
                <a:solidFill>
                  <a:srgbClr val="282D32"/>
                </a:solidFill>
              </a:defRPr>
            </a:pPr>
            <a:endParaRPr/>
          </a:p>
          <a:p>
            <a:pPr algn="l">
              <a:spcAft>
                <a:spcPts val="700"/>
              </a:spcAft>
              <a:defRPr sz="1500" b="0">
                <a:solidFill>
                  <a:srgbClr val="282D32"/>
                </a:solidFill>
              </a:defRPr>
            </a:pPr>
            <a:r>
              <a:t>• 112 product descriptions remain unresolved because no reliable description could be recovered.</a:t>
            </a:r>
          </a:p>
          <a:p>
            <a:pPr algn="l">
              <a:spcAft>
                <a:spcPts val="700"/>
              </a:spcAft>
              <a:defRPr sz="1500" b="0">
                <a:solidFill>
                  <a:srgbClr val="282D32"/>
                </a:solidFill>
              </a:defRPr>
            </a:pPr>
            <a:endParaRPr/>
          </a:p>
          <a:p>
            <a:pPr algn="l">
              <a:spcAft>
                <a:spcPts val="700"/>
              </a:spcAft>
              <a:defRPr sz="1500" b="0">
                <a:solidFill>
                  <a:srgbClr val="282D32"/>
                </a:solidFill>
              </a:defRPr>
            </a:pPr>
            <a:r>
              <a:t>• The dataset has no product cost or margin information, so high revenue cannot safely be interpreted as high profit.</a:t>
            </a:r>
          </a:p>
          <a:p>
            <a:pPr algn="l">
              <a:spcAft>
                <a:spcPts val="700"/>
              </a:spcAft>
              <a:defRPr sz="1500" b="0">
                <a:solidFill>
                  <a:srgbClr val="282D32"/>
                </a:solidFill>
              </a:defRPr>
            </a:pPr>
            <a:endParaRPr/>
          </a:p>
          <a:p>
            <a:pPr algn="l">
              <a:spcAft>
                <a:spcPts val="700"/>
              </a:spcAft>
              <a:defRPr sz="1500" b="0">
                <a:solidFill>
                  <a:srgbClr val="282D32"/>
                </a:solidFill>
              </a:defRPr>
            </a:pPr>
            <a:r>
              <a:t>• Extreme UnitPrice values include non-standard transactions such as fees and adjustments.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325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300" b="1">
                <a:solidFill>
                  <a:srgbClr val="697078"/>
                </a:solidFill>
              </a:defRPr>
            </a:pPr>
            <a:r>
              <a:t>NEXT 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737360"/>
            <a:ext cx="50292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500" b="0">
                <a:solidFill>
                  <a:srgbClr val="1F374E"/>
                </a:solidFill>
              </a:defRPr>
            </a:pPr>
            <a:r>
              <a:t>• Analyze repeat-purchase and customer retention behavior.</a:t>
            </a:r>
          </a:p>
          <a:p>
            <a:pPr algn="l">
              <a:spcAft>
                <a:spcPts val="700"/>
              </a:spcAft>
              <a:defRPr sz="1500" b="0">
                <a:solidFill>
                  <a:srgbClr val="1F374E"/>
                </a:solidFill>
              </a:defRPr>
            </a:pPr>
            <a:endParaRPr/>
          </a:p>
          <a:p>
            <a:pPr algn="l">
              <a:spcAft>
                <a:spcPts val="700"/>
              </a:spcAft>
              <a:defRPr sz="1500" b="0">
                <a:solidFill>
                  <a:srgbClr val="1F374E"/>
                </a:solidFill>
              </a:defRPr>
            </a:pPr>
            <a:r>
              <a:t>• Investigate cancellation reasons by product and time period.</a:t>
            </a:r>
          </a:p>
          <a:p>
            <a:pPr algn="l">
              <a:spcAft>
                <a:spcPts val="700"/>
              </a:spcAft>
              <a:defRPr sz="1500" b="0">
                <a:solidFill>
                  <a:srgbClr val="1F374E"/>
                </a:solidFill>
              </a:defRPr>
            </a:pPr>
            <a:endParaRPr/>
          </a:p>
          <a:p>
            <a:pPr algn="l">
              <a:spcAft>
                <a:spcPts val="700"/>
              </a:spcAft>
              <a:defRPr sz="1500" b="0">
                <a:solidFill>
                  <a:srgbClr val="1F374E"/>
                </a:solidFill>
              </a:defRPr>
            </a:pPr>
            <a:r>
              <a:t>• Add product cost/margin data to measure profitability.</a:t>
            </a:r>
          </a:p>
          <a:p>
            <a:pPr algn="l">
              <a:spcAft>
                <a:spcPts val="700"/>
              </a:spcAft>
              <a:defRPr sz="1500" b="0">
                <a:solidFill>
                  <a:srgbClr val="1F374E"/>
                </a:solidFill>
              </a:defRPr>
            </a:pPr>
            <a:endParaRPr/>
          </a:p>
          <a:p>
            <a:pPr algn="l">
              <a:spcAft>
                <a:spcPts val="700"/>
              </a:spcAft>
              <a:defRPr sz="1500" b="0">
                <a:solidFill>
                  <a:srgbClr val="1F374E"/>
                </a:solidFill>
              </a:defRPr>
            </a:pPr>
            <a:r>
              <a:t>• Separate fees, postage and adjustments from normal product sales.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5166360"/>
            <a:ext cx="5029200" cy="685800"/>
          </a:xfrm>
          <a:prstGeom prst="roundRect">
            <a:avLst/>
          </a:prstGeom>
          <a:solidFill>
            <a:srgbClr val="1F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29400" y="532180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FFFFFF"/>
                </a:solidFill>
              </a:defRPr>
            </a:pPr>
            <a:r>
              <a:t>Management takeaway: grow revenue, but validate profitability.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565</Words>
  <Application>Microsoft Office PowerPoint</Application>
  <PresentationFormat>Widescreen</PresentationFormat>
  <Paragraphs>124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sarfaraj alam</cp:lastModifiedBy>
  <cp:revision>2</cp:revision>
  <dcterms:created xsi:type="dcterms:W3CDTF">2013-01-27T09:14:16Z</dcterms:created>
  <dcterms:modified xsi:type="dcterms:W3CDTF">2026-09-11T14:05:26Z</dcterms:modified>
  <cp:category/>
</cp:coreProperties>
</file>